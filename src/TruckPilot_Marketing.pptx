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572000" cy="4572000"/>
          </a:xfrm>
          <a:prstGeom prst="ellipse">
            <a:avLst/>
          </a:prstGeom>
          <a:solidFill>
            <a:srgbClr val="1C2B4A">
              <a:alpha val="40000"/>
            </a:srgbClr>
          </a:solidFill>
          <a:ln w="12700">
            <a:solidFill>
              <a:srgbClr val="1C2B4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389120"/>
            <a:ext cx="4572000" cy="1371600"/>
          </a:xfrm>
          <a:prstGeom prst="rect">
            <a:avLst/>
          </a:prstGeom>
          <a:solidFill>
            <a:srgbClr val="243659">
              <a:alpha val="30000"/>
            </a:srgbClr>
          </a:solidFill>
          <a:ln w="12700">
            <a:solidFill>
              <a:srgbClr val="24365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274320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TRUCK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493008" y="1371600"/>
            <a:ext cx="274320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96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493776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DD0E8"/>
                </a:solidFill>
              </a:rPr>
              <a:t>Your Fleet. Your Numbers. Fully Managed.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99BB"/>
                </a:solidFill>
              </a:rPr>
              <a:t>The all-in-one trucking business platform for fleet owners and drivers.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E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Get Started Free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"/>
            <a:ext cx="2606040" cy="4297680"/>
          </a:xfrm>
          <a:prstGeom prst="roundRect">
            <a:avLst>
              <a:gd name="adj" fmla="val 7719"/>
            </a:avLst>
          </a:prstGeom>
          <a:solidFill>
            <a:srgbClr val="1A1A2E"/>
          </a:solidFill>
          <a:ln w="25400">
            <a:solidFill>
              <a:srgbClr val="33335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74282" y="846734"/>
            <a:ext cx="2293315" cy="3610051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0034" y="4542739"/>
            <a:ext cx="781812" cy="36576"/>
          </a:xfrm>
          <a:prstGeom prst="roundRect">
            <a:avLst>
              <a:gd name="adj" fmla="val 50000"/>
            </a:avLst>
          </a:prstGeom>
          <a:solidFill>
            <a:srgbClr val="66668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2457" y="610362"/>
            <a:ext cx="416966" cy="36576"/>
          </a:xfrm>
          <a:prstGeom prst="ellipse">
            <a:avLst/>
          </a:prstGeom>
          <a:solidFill>
            <a:srgbClr val="3333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4282" y="846734"/>
            <a:ext cx="2293315" cy="34747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20002" y="883310"/>
            <a:ext cx="220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🚛  Haul Log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29146" y="1249070"/>
            <a:ext cx="2183587" cy="658368"/>
          </a:xfrm>
          <a:prstGeom prst="rect">
            <a:avLst/>
          </a:prstGeom>
          <a:solidFill>
            <a:srgbClr val="24365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9146" y="1249070"/>
            <a:ext cx="36576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3154" y="1285646"/>
            <a:ext cx="20647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Calgary → Edmonton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93154" y="1441094"/>
            <a:ext cx="20647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A94A"/>
                </a:solidFill>
              </a:rPr>
              <a:t>$2,400  ·  480 km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493154" y="1596542"/>
            <a:ext cx="20647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CC88"/>
                </a:solidFill>
              </a:rPr>
              <a:t>✅ Completed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6429146" y="1962302"/>
            <a:ext cx="2183587" cy="658368"/>
          </a:xfrm>
          <a:prstGeom prst="rect">
            <a:avLst/>
          </a:prstGeom>
          <a:solidFill>
            <a:srgbClr val="24365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9146" y="1962302"/>
            <a:ext cx="36576" cy="65836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3154" y="1998878"/>
            <a:ext cx="20647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Toronto → Montreal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93154" y="2154326"/>
            <a:ext cx="20647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A94A"/>
                </a:solidFill>
              </a:rPr>
              <a:t>$3,100  ·  541 km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493154" y="2309774"/>
            <a:ext cx="20647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CC66"/>
                </a:solidFill>
              </a:rPr>
              <a:t>⏳ In Progress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6374282" y="4109314"/>
            <a:ext cx="2293315" cy="347472"/>
          </a:xfrm>
          <a:prstGeom prst="rect">
            <a:avLst/>
          </a:prstGeom>
          <a:solidFill>
            <a:srgbClr val="0F1C31"/>
          </a:solidFill>
          <a:ln/>
        </p:spPr>
      </p:sp>
      <p:sp>
        <p:nvSpPr>
          <p:cNvPr id="30" name="Text 28"/>
          <p:cNvSpPr/>
          <p:nvPr/>
        </p:nvSpPr>
        <p:spPr>
          <a:xfrm>
            <a:off x="6374282" y="4145890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📋   📊   ⚙️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46177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31"/>
                </a:solidFill>
              </a:rPr>
              <a:t>v2.0  —  iOS &amp; Android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Running a trucking business is overwhelming.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566"/>
                </a:solidFill>
              </a:rPr>
              <a:t>Loads, expenses, payroll, fuel, IFTA taxes, driver management — all in different apps, spreadsheets, or paper logs. One missed record costs you money.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42032"/>
            <a:ext cx="45720" cy="47548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420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</a:rPr>
              <a:t>📄  Paperwork Overload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2542032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2542032"/>
            <a:ext cx="45720" cy="47548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25420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</a:rPr>
              <a:t>💸  Missed Expenses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63824"/>
            <a:ext cx="45720" cy="47548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63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</a:rPr>
              <a:t>🔢  IFTA Headaches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3163824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3163824"/>
            <a:ext cx="45720" cy="47548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3163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</a:rPr>
              <a:t>👥  Driver Confusion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85616"/>
            <a:ext cx="45720" cy="47548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856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</a:rPr>
              <a:t>💰  Payroll Errors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3785616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3785616"/>
            <a:ext cx="45720" cy="47548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37856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</a:rPr>
              <a:t>⏳  Wasted Hours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457200"/>
            <a:ext cx="3017520" cy="438912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457200"/>
            <a:ext cx="64008" cy="4389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640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5989320" y="12344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FFFFF"/>
                </a:solidFill>
              </a:rPr>
              <a:t>Truckers spend up to 15 hours per week on admin tasks instead of driving.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89320" y="2697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A94A"/>
                </a:solidFill>
              </a:rPr>
              <a:t>That's $30,000+ in lost productivity every year.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8932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TruckPilot gives that time back.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89320" y="4160520"/>
            <a:ext cx="2606040" cy="27432"/>
          </a:xfrm>
          <a:prstGeom prst="rect">
            <a:avLst/>
          </a:prstGeom>
          <a:solidFill>
            <a:srgbClr val="E8962E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TruckPilot Inc.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WHAT IS TRUCKPILOT?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app. Your entire trucking operation.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AABBCC"/>
                </a:solidFill>
              </a:rPr>
              <a:t>TruckPilot is a mobile-first platform built exclusively for Canadian and North American trucking professionals. Whether you run a single truck or a growing fleet, TruckPilot keeps your loads, expenses, payroll, fuel, taxes and documents organized — in one place, on your phone.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938528" cy="25146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286000"/>
            <a:ext cx="1938528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2E"/>
                </a:solidFill>
              </a:rPr>
              <a:t>Manage Loads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55264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BBCC"/>
                </a:solidFill>
              </a:rPr>
              <a:t>Log every haul, track earnings, attach photos and BOLs, generate invoices in seconds.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2286000"/>
            <a:ext cx="1938528" cy="25146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2286000"/>
            <a:ext cx="1938528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79192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2E"/>
                </a:solidFill>
              </a:rPr>
              <a:t>Track Money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9192" y="3255264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BBCC"/>
                </a:solidFill>
              </a:rPr>
              <a:t>Expenses, fuel, payroll, IFTA — all automated and categorized for tax season.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72584" y="2286000"/>
            <a:ext cx="1938528" cy="25146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2286000"/>
            <a:ext cx="1938528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64024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2E"/>
                </a:solidFill>
              </a:rPr>
              <a:t>Run Your Team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4024" y="3255264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BBCC"/>
                </a:solidFill>
              </a:rPr>
              <a:t>Assign loads to drivers, set pay rates, track contractor payments and confirmations.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2286000"/>
            <a:ext cx="1938528" cy="25146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2286000"/>
            <a:ext cx="1938528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3" name="Text 21"/>
          <p:cNvSpPr/>
          <p:nvPr/>
        </p:nvSpPr>
        <p:spPr>
          <a:xfrm>
            <a:off x="6848856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48856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2E"/>
                </a:solidFill>
              </a:rPr>
              <a:t>Know Your Numbers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255264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BBCC"/>
                </a:solidFill>
              </a:rPr>
              <a:t>Real-time P&amp;L, income statements, payroll summaries and tax-ready reports.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1C31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Available on iOS and Android  ·  Built for Canada &amp; North America  ·  CRA-Compliant Tax Categories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657600" cy="50886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FLEET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</a:rPr>
              <a:t>Take full command of your fleet. Assign drivers, review performance, generate payroll, track receivables and stay audit-ready — all from your phone.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3611880"/>
            <a:ext cx="1508760" cy="9144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3611880"/>
            <a:ext cx="64008" cy="91440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7033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62E"/>
                </a:solidFill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4178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Tax-Ready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3611880"/>
            <a:ext cx="1508760" cy="9144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3611880"/>
            <a:ext cx="64008" cy="91440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37033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62E"/>
                </a:solidFill>
              </a:rPr>
              <a:t>15+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057400" y="4178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Feature Modules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32004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320040"/>
            <a:ext cx="45720" cy="14173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805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Load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886968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Log hauls with route, earnings, km, cargo weight, notes and photos.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32004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20040"/>
            <a:ext cx="45720" cy="14173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Driver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886968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Invite drivers, assign loads, set flat or % pay rates.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0" y="1856232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0" y="1856232"/>
            <a:ext cx="45720" cy="14173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6" name="Text 24"/>
          <p:cNvSpPr/>
          <p:nvPr/>
        </p:nvSpPr>
        <p:spPr>
          <a:xfrm>
            <a:off x="39776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48056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Payroll &amp; Pay Stubs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24231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Automated payroll summaries. Generate pay stubs per period.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1856232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1856232"/>
            <a:ext cx="45720" cy="14173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📑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8660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Invoice Generator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4231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One-tap PDF invoices sent directly to your contractor.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392424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0" y="3392424"/>
            <a:ext cx="45720" cy="14173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6" name="Text 34"/>
          <p:cNvSpPr/>
          <p:nvPr/>
        </p:nvSpPr>
        <p:spPr>
          <a:xfrm>
            <a:off x="3977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480560" y="3529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Expense Tracking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77640" y="395935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Business, personal and split expenses. Full CRA categories.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46520" y="3392424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6520" y="3392424"/>
            <a:ext cx="45720" cy="14173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⛽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086600" y="3529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Fuel Log + IFTA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395935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Scan fuel receipts with AI. Auto-calculate IFTA by province.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94A"/>
                </a:solidFill>
              </a:rPr>
              <a:t>Every haul, perfectly documented.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201168" cy="201168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DD"/>
                </a:solidFill>
              </a:rPr>
              <a:t>Log pickups, deliveries, earnings and km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25496"/>
            <a:ext cx="201168" cy="201168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DD"/>
                </a:solidFill>
              </a:rPr>
              <a:t>Attach up to 10 photos per load (BOL, receipt)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218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DD"/>
                </a:solidFill>
              </a:rPr>
              <a:t>Generate professional PDF invoices in one tap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201168" cy="201168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484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DD"/>
                </a:solidFill>
              </a:rPr>
              <a:t>Track load status: Pending → In Progress → Complete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078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DD"/>
                </a:solidFill>
              </a:rPr>
              <a:t>Contractor payment tracking with paid confirmation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201168" cy="201168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07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DD"/>
                </a:solidFill>
              </a:rPr>
              <a:t>Full trip summary with all load details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84048"/>
            <a:ext cx="3474720" cy="4572000"/>
          </a:xfrm>
          <a:prstGeom prst="roundRect">
            <a:avLst>
              <a:gd name="adj" fmla="val 5789"/>
            </a:avLst>
          </a:prstGeom>
          <a:solidFill>
            <a:srgbClr val="1A1A2E"/>
          </a:solidFill>
          <a:ln w="25400">
            <a:solidFill>
              <a:srgbClr val="33335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20563" y="749808"/>
            <a:ext cx="3057754" cy="38404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4681728"/>
            <a:ext cx="1042416" cy="36576"/>
          </a:xfrm>
          <a:prstGeom prst="roundRect">
            <a:avLst>
              <a:gd name="adj" fmla="val 50000"/>
            </a:avLst>
          </a:prstGeom>
          <a:solidFill>
            <a:srgbClr val="66668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1462" y="498348"/>
            <a:ext cx="555955" cy="36576"/>
          </a:xfrm>
          <a:prstGeom prst="ellipse">
            <a:avLst/>
          </a:prstGeom>
          <a:solidFill>
            <a:srgbClr val="333355"/>
          </a:solidFill>
          <a:ln/>
        </p:spPr>
      </p:sp>
      <p:sp>
        <p:nvSpPr>
          <p:cNvPr id="22" name="Shape 20"/>
          <p:cNvSpPr/>
          <p:nvPr/>
        </p:nvSpPr>
        <p:spPr>
          <a:xfrm>
            <a:off x="5420563" y="749808"/>
            <a:ext cx="3057754" cy="5029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75427" y="804672"/>
            <a:ext cx="29480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← Load Detail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20563" y="1252728"/>
            <a:ext cx="3057754" cy="45720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5" name="Text 23"/>
          <p:cNvSpPr/>
          <p:nvPr/>
        </p:nvSpPr>
        <p:spPr>
          <a:xfrm>
            <a:off x="5475427" y="1298448"/>
            <a:ext cx="296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C31"/>
                </a:solidFill>
              </a:rPr>
              <a:t>🚛  Calgary  →  Vancouver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20563" y="1773936"/>
            <a:ext cx="3057754" cy="402336"/>
          </a:xfrm>
          <a:prstGeom prst="rect">
            <a:avLst/>
          </a:prstGeom>
          <a:solidFill>
            <a:srgbClr val="243659"/>
          </a:solidFill>
          <a:ln/>
        </p:spPr>
      </p:sp>
      <p:sp>
        <p:nvSpPr>
          <p:cNvPr id="27" name="Text 25"/>
          <p:cNvSpPr/>
          <p:nvPr/>
        </p:nvSpPr>
        <p:spPr>
          <a:xfrm>
            <a:off x="5475427" y="1847088"/>
            <a:ext cx="1345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Earnings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27130" y="1847088"/>
            <a:ext cx="159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$4,200.00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20563" y="2176272"/>
            <a:ext cx="305775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5475427" y="2249424"/>
            <a:ext cx="1345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Distance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27130" y="2249424"/>
            <a:ext cx="159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970 km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20563" y="2578608"/>
            <a:ext cx="3057754" cy="402336"/>
          </a:xfrm>
          <a:prstGeom prst="rect">
            <a:avLst/>
          </a:prstGeom>
          <a:solidFill>
            <a:srgbClr val="243659"/>
          </a:solidFill>
          <a:ln/>
        </p:spPr>
      </p:sp>
      <p:sp>
        <p:nvSpPr>
          <p:cNvPr id="33" name="Text 31"/>
          <p:cNvSpPr/>
          <p:nvPr/>
        </p:nvSpPr>
        <p:spPr>
          <a:xfrm>
            <a:off x="5475427" y="2651760"/>
            <a:ext cx="1345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Cargo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27130" y="2651760"/>
            <a:ext cx="159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General Freight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20563" y="2980944"/>
            <a:ext cx="305775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5475427" y="3054096"/>
            <a:ext cx="1345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Truck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827130" y="3054096"/>
            <a:ext cx="159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Unit 12 — Kenworth T680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20563" y="3383280"/>
            <a:ext cx="3057754" cy="402336"/>
          </a:xfrm>
          <a:prstGeom prst="rect">
            <a:avLst/>
          </a:prstGeom>
          <a:solidFill>
            <a:srgbClr val="243659"/>
          </a:solidFill>
          <a:ln/>
        </p:spPr>
      </p:sp>
      <p:sp>
        <p:nvSpPr>
          <p:cNvPr id="39" name="Text 37"/>
          <p:cNvSpPr/>
          <p:nvPr/>
        </p:nvSpPr>
        <p:spPr>
          <a:xfrm>
            <a:off x="5475427" y="3456432"/>
            <a:ext cx="1345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Status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27130" y="3456432"/>
            <a:ext cx="159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✅ Complete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75427" y="3968496"/>
            <a:ext cx="1446581" cy="347472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42" name="Text 40"/>
          <p:cNvSpPr/>
          <p:nvPr/>
        </p:nvSpPr>
        <p:spPr>
          <a:xfrm>
            <a:off x="5475427" y="3968496"/>
            <a:ext cx="14465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31"/>
                </a:solidFill>
              </a:rPr>
              <a:t>📄 Invoice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976872" y="3968496"/>
            <a:ext cx="1446581" cy="347472"/>
          </a:xfrm>
          <a:prstGeom prst="rect">
            <a:avLst/>
          </a:prstGeom>
          <a:solidFill>
            <a:srgbClr val="243659"/>
          </a:solidFill>
          <a:ln/>
        </p:spPr>
      </p:sp>
      <p:sp>
        <p:nvSpPr>
          <p:cNvPr id="44" name="Text 42"/>
          <p:cNvSpPr/>
          <p:nvPr/>
        </p:nvSpPr>
        <p:spPr>
          <a:xfrm>
            <a:off x="6976872" y="3968496"/>
            <a:ext cx="14465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📸 Photos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EXPENSES &amp; TAX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losing money at tax time.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38404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Smart Expense Logging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Fuel, maintenance, insurance, meals — all CRA-mapped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280160"/>
            <a:ext cx="38404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636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AI Receipt Scanning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6642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Photograph receipts. AI extracts merchant, amount and date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514600"/>
            <a:ext cx="38404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Fuel Log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8986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Per-fill fuel tracking by province for accurate IFTA reporting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51460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514600"/>
            <a:ext cx="38404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66360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IFTA Tax Calculator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8986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Auto-calculates km and fuel by jurisdiction. Export ready for filing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749040"/>
            <a:ext cx="38404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Split Expenses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1330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50/50 split between personal and business — recorded cleanly for both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74904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749040"/>
            <a:ext cx="38404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6636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Tax Category Reports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41330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Year-end breakdown by CRA category. Hand it to your accountant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PAYROLL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 drivers right.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time.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1907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BBCC"/>
                </a:solidFill>
              </a:rPr>
              <a:t>Flat rate or percentage pay — TruckPilot calculates everything automatically, tracks who's been paid, and keeps records for every driver on your fleet.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737360" cy="100584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88920"/>
            <a:ext cx="64008" cy="100584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80360"/>
            <a:ext cx="15544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62E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3412541"/>
            <a:ext cx="1554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Pay Rate Types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788920"/>
            <a:ext cx="1737360" cy="100584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2788920"/>
            <a:ext cx="64008" cy="100584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880360"/>
            <a:ext cx="15544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62E"/>
                </a:solidFill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3412541"/>
            <a:ext cx="1554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Audit Trail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788920"/>
            <a:ext cx="1737360" cy="100584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2788920"/>
            <a:ext cx="64008" cy="100584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880360"/>
            <a:ext cx="15544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62E"/>
                </a:solidFill>
              </a:rPr>
              <a:t>PDF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434840" y="3412541"/>
            <a:ext cx="1554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Pay Stubs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62E"/>
                </a:solidFill>
              </a:rPr>
              <a:t>Payment 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97880" y="749808"/>
            <a:ext cx="2926080" cy="59436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749808"/>
            <a:ext cx="54864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016752" y="8229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7648" y="822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📦  Load Completed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371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1536192"/>
            <a:ext cx="2926080" cy="59436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97880" y="1536192"/>
            <a:ext cx="54864" cy="59436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6" name="Text 24"/>
          <p:cNvSpPr/>
          <p:nvPr/>
        </p:nvSpPr>
        <p:spPr>
          <a:xfrm>
            <a:off x="6016752" y="16093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2E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27648" y="16093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🔢  Pay Auto-Calculated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1579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322576"/>
            <a:ext cx="2926080" cy="59436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97880" y="2322576"/>
            <a:ext cx="54864" cy="5943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1" name="Text 29"/>
          <p:cNvSpPr/>
          <p:nvPr/>
        </p:nvSpPr>
        <p:spPr>
          <a:xfrm>
            <a:off x="6016752" y="23957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27648" y="23957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💳  Owner Marks Paid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9443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3108960"/>
            <a:ext cx="2926080" cy="59436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97880" y="3108960"/>
            <a:ext cx="54864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6" name="Text 34"/>
          <p:cNvSpPr/>
          <p:nvPr/>
        </p:nvSpPr>
        <p:spPr>
          <a:xfrm>
            <a:off x="6016752" y="31821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27648" y="31821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Driver Confirms Received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7307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97880" y="3895344"/>
            <a:ext cx="2926080" cy="59436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97880" y="3895344"/>
            <a:ext cx="54864" cy="594360"/>
          </a:xfrm>
          <a:prstGeom prst="rect">
            <a:avLst/>
          </a:prstGeom>
          <a:solidFill>
            <a:srgbClr val="F5A94A"/>
          </a:solidFill>
          <a:ln/>
        </p:spPr>
      </p:sp>
      <p:sp>
        <p:nvSpPr>
          <p:cNvPr id="41" name="Text 39"/>
          <p:cNvSpPr/>
          <p:nvPr/>
        </p:nvSpPr>
        <p:spPr>
          <a:xfrm>
            <a:off x="6016752" y="396849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94A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27648" y="3968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Payroll Report Updated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exactly where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money goes.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365760"/>
            <a:ext cx="4206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Monthly Revenue vs Expenses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813560"/>
            <a:ext cx="228600" cy="9753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" name="Shape 6"/>
          <p:cNvSpPr/>
          <p:nvPr/>
        </p:nvSpPr>
        <p:spPr>
          <a:xfrm>
            <a:off x="5056632" y="2423160"/>
            <a:ext cx="228600" cy="36576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834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Jan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40680" y="1630680"/>
            <a:ext cx="228600" cy="11582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1" name="Shape 9"/>
          <p:cNvSpPr/>
          <p:nvPr/>
        </p:nvSpPr>
        <p:spPr>
          <a:xfrm>
            <a:off x="5696712" y="2331720"/>
            <a:ext cx="228600" cy="45720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834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Feb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228600" cy="12801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36792" y="2301240"/>
            <a:ext cx="228600" cy="48768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834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Mar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20840" y="1661160"/>
            <a:ext cx="228600" cy="11277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976872" y="2392680"/>
            <a:ext cx="228600" cy="39624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834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Apr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60920" y="1325880"/>
            <a:ext cx="228600" cy="14630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6952" y="2240280"/>
            <a:ext cx="228600" cy="54864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2834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May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001000" y="1447800"/>
            <a:ext cx="228600" cy="1341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57032" y="2270760"/>
            <a:ext cx="228600" cy="51816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2834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Jun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54880" y="2999232"/>
            <a:ext cx="164592" cy="10972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2971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Revenue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0" y="2999232"/>
            <a:ext cx="164592" cy="10972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2971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Expenses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40690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429000"/>
            <a:ext cx="4069080" cy="457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4128" y="3520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Income Statement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776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Revenue, expenses and net profit for any date range.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40690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429000"/>
            <a:ext cx="4069080" cy="457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21808" y="3520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Payroll Summary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3776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Driver earnings with payment status per period.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233672"/>
            <a:ext cx="40690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233672"/>
            <a:ext cx="4069080" cy="457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⛽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24128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IFTA Report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24128" y="45811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Km and fuel by province, tax period ready.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233672"/>
            <a:ext cx="40690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4233672"/>
            <a:ext cx="4069080" cy="457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6" name="Text 44"/>
          <p:cNvSpPr/>
          <p:nvPr/>
        </p:nvSpPr>
        <p:spPr>
          <a:xfrm>
            <a:off x="486460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321808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Expense Summary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45811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Categorized expense breakdown for CRA filing.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54864"/>
            <a:ext cx="3383280" cy="50886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9144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0" y="23591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</a:rPr>
              <a:t>Your earnings, expenses and records — right in your pocket.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89320" y="3337560"/>
            <a:ext cx="2834640" cy="86868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89320" y="3337560"/>
            <a:ext cx="64008" cy="86868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3429000"/>
            <a:ext cx="26517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62E"/>
                </a:solidFill>
              </a:rPr>
              <a:t>1 tap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126480" y="3876142"/>
            <a:ext cx="265176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Confirm Pay Received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4279392"/>
            <a:ext cx="2834640" cy="6858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89320" y="4279392"/>
            <a:ext cx="64008" cy="68580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4370832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62E"/>
                </a:solidFill>
              </a:rPr>
              <a:t>Auto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4704588"/>
            <a:ext cx="2651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Expense Categories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DRIVER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594360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594360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704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685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View Assigned Loads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" y="10332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See all loads assigned by your fleet owner, with full route and earnings detail.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594360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594360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3282696" y="704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0" y="685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Attach Photos &amp; BOL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82696" y="10332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Snap and upload bill of lading, weigh scale slips and delivery photos directly on each load.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1673352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1673352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Track Your Pay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" y="21122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See when your owner marks payment sent. Confirm received with one tap.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54680" y="1673352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1673352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2" name="Text 30"/>
          <p:cNvSpPr/>
          <p:nvPr/>
        </p:nvSpPr>
        <p:spPr>
          <a:xfrm>
            <a:off x="3282696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760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Expense Tracking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82696" y="21122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Log personal and business expenses with tax categories. Split 50/50 when shared with owner.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752344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2752344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⛽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2843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Fuel Log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" y="3191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Track fills per location. AI receipt scan fills in the details automatically.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54680" y="2752344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2752344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42" name="Text 40"/>
          <p:cNvSpPr/>
          <p:nvPr/>
        </p:nvSpPr>
        <p:spPr>
          <a:xfrm>
            <a:off x="3282696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657600" y="2843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Maintenance Reminders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82696" y="3191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Oil changes, inspections and tire rotations — never miss a service deadline.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831336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3831336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47" name="Text 45"/>
          <p:cNvSpPr/>
          <p:nvPr/>
        </p:nvSpPr>
        <p:spPr>
          <a:xfrm>
            <a:off x="585216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🆘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0120" y="3922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Emergency Services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5216" y="42702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Roadside assistance, towing and emergency contacts one tap away.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54680" y="3831336"/>
            <a:ext cx="2542032" cy="96012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54680" y="3831336"/>
            <a:ext cx="45720" cy="9601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52" name="Text 50"/>
          <p:cNvSpPr/>
          <p:nvPr/>
        </p:nvSpPr>
        <p:spPr>
          <a:xfrm>
            <a:off x="3282696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657600" y="3922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My Reports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82696" y="42702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Personal income, expense summaries and payment history — your financial picture.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FUEL +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Smarter Fuel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5566"/>
                </a:solidFill>
              </a:rPr>
              <a:t>Every fill-up captured. Every province tracked. IFTA done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286000"/>
            <a:ext cx="2651760" cy="6400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31272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96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9436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Receipt Scan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41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Photograph your fuel receipt. AI extracts litres, amount, station and province.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28600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286000"/>
            <a:ext cx="2651760" cy="6400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29000" y="31272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96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42900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Provinces/States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4041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Track fuel purchases per jurisdiction for full IFTA compliance.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286000"/>
            <a:ext cx="2651760" cy="64008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63640" y="31272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96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26364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IFTA Calculate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4041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677"/>
                </a:solidFill>
              </a:rPr>
              <a:t>Distance and fuel per province auto-calculated. Export ready for your accountant.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AND MUCH MORE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your fleet needs, built in.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Maintenance Tracker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Oil changes, tires, inspections and brake checks — scheduled reminders per unit.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8016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Pre/Post-Trip Inspections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240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Digital CVSA-style inspection checklists. Fail items trigger instant alerts to the owner.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8016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Document Hub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240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Store and organize licences, insurance, registration, permits — always available offline.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8016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76288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🆘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Emergency Services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240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One-tap roadside, towing, medical and fire contacts. Share your GPS location instantly.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1752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148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Team Messaging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In-app messaging between owner and drivers. Full audit log of all communications.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01752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301752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2" name="Text 30"/>
          <p:cNvSpPr/>
          <p:nvPr/>
        </p:nvSpPr>
        <p:spPr>
          <a:xfrm>
            <a:off x="2578608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56032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Driver Leaderboard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Rank drivers by earnings, loads completed and performance metrics. Motivate your team.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301752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301752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7" name="Text 35"/>
          <p:cNvSpPr/>
          <p:nvPr/>
        </p:nvSpPr>
        <p:spPr>
          <a:xfrm>
            <a:off x="4727448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70916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Smart Notifications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Maintenance due alerts, payment confirmations, inspection failures — zero missed events.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3017520"/>
            <a:ext cx="2011680" cy="1600200"/>
          </a:xfrm>
          <a:prstGeom prst="rect">
            <a:avLst/>
          </a:prstGeom>
          <a:solidFill>
            <a:srgbClr val="2436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3017520"/>
            <a:ext cx="201168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42" name="Text 40"/>
          <p:cNvSpPr/>
          <p:nvPr/>
        </p:nvSpPr>
        <p:spPr>
          <a:xfrm>
            <a:off x="6876288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5800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94A"/>
                </a:solidFill>
              </a:rPr>
              <a:t>Offline Mode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Log loads and expenses even without signal. Syncs automatically when you're back online.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62E"/>
                </a:solidFill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free. Scale as you grow.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No hidden fees. Cancel anytime. Upgrade when you're ready.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44556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45566"/>
                </a:solidFill>
              </a:rPr>
              <a:t>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forever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Get started at no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23317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392424"/>
            <a:ext cx="128016" cy="128016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37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5 loads/month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28016" cy="128016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Basic expense tracking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032504"/>
            <a:ext cx="128016" cy="128016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Fuel log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352544"/>
            <a:ext cx="128016" cy="128016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1 driver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672584"/>
            <a:ext cx="128016" cy="128016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617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PDF invoices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0128" y="1554480"/>
            <a:ext cx="2697480" cy="370332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1554480"/>
            <a:ext cx="2697480" cy="73152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968496" y="13898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8962E"/>
          </a:solidFill>
          <a:ln/>
        </p:spPr>
      </p:sp>
      <p:sp>
        <p:nvSpPr>
          <p:cNvPr id="26" name="Text 24"/>
          <p:cNvSpPr/>
          <p:nvPr/>
        </p:nvSpPr>
        <p:spPr>
          <a:xfrm>
            <a:off x="3968496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C31"/>
                </a:solidFill>
              </a:rPr>
              <a:t>⭐ Most Popular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93008" y="1719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2E"/>
                </a:solidFill>
              </a:rPr>
              <a:t>HAULER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93008" y="19933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$9.99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3493008" y="2651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/ month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For independent operators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93008" y="3218688"/>
            <a:ext cx="2331720" cy="18288"/>
          </a:xfrm>
          <a:prstGeom prst="rect">
            <a:avLst/>
          </a:prstGeom>
          <a:solidFill>
            <a:srgbClr val="334466"/>
          </a:solidFill>
          <a:ln/>
        </p:spPr>
      </p:sp>
      <p:sp>
        <p:nvSpPr>
          <p:cNvPr id="32" name="Shape 30"/>
          <p:cNvSpPr/>
          <p:nvPr/>
        </p:nvSpPr>
        <p:spPr>
          <a:xfrm>
            <a:off x="3493008" y="3392424"/>
            <a:ext cx="128016" cy="128016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33" name="Text 31"/>
          <p:cNvSpPr/>
          <p:nvPr/>
        </p:nvSpPr>
        <p:spPr>
          <a:xfrm>
            <a:off x="3694176" y="3337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Unlimited loads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93008" y="3712464"/>
            <a:ext cx="128016" cy="128016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35" name="Text 33"/>
          <p:cNvSpPr/>
          <p:nvPr/>
        </p:nvSpPr>
        <p:spPr>
          <a:xfrm>
            <a:off x="3694176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Full expense + IFTA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93008" y="4032504"/>
            <a:ext cx="128016" cy="128016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37" name="Text 35"/>
          <p:cNvSpPr/>
          <p:nvPr/>
        </p:nvSpPr>
        <p:spPr>
          <a:xfrm>
            <a:off x="3694176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Payroll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93008" y="4352544"/>
            <a:ext cx="128016" cy="128016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39" name="Text 37"/>
          <p:cNvSpPr/>
          <p:nvPr/>
        </p:nvSpPr>
        <p:spPr>
          <a:xfrm>
            <a:off x="3694176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Up to 3 drivers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93008" y="4672584"/>
            <a:ext cx="128016" cy="128016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41" name="Text 39"/>
          <p:cNvSpPr/>
          <p:nvPr/>
        </p:nvSpPr>
        <p:spPr>
          <a:xfrm>
            <a:off x="3694176" y="4617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Maintenance tracker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93008" y="4992624"/>
            <a:ext cx="128016" cy="128016"/>
          </a:xfrm>
          <a:prstGeom prst="ellipse">
            <a:avLst/>
          </a:prstGeom>
          <a:solidFill>
            <a:srgbClr val="E8962E"/>
          </a:solidFill>
          <a:ln/>
        </p:spPr>
      </p:sp>
      <p:sp>
        <p:nvSpPr>
          <p:cNvPr id="43" name="Text 41"/>
          <p:cNvSpPr/>
          <p:nvPr/>
        </p:nvSpPr>
        <p:spPr>
          <a:xfrm>
            <a:off x="3694176" y="4937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 receipt scan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63056" y="1554480"/>
            <a:ext cx="269748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1554480"/>
            <a:ext cx="269748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6" name="Text 44"/>
          <p:cNvSpPr/>
          <p:nvPr/>
        </p:nvSpPr>
        <p:spPr>
          <a:xfrm>
            <a:off x="6345936" y="1719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BC9C"/>
                </a:solidFill>
              </a:rPr>
              <a:t>PRO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45936" y="19933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$24.99</a:t>
            </a:r>
            <a:endParaRPr lang="en-US" sz="4000" dirty="0"/>
          </a:p>
        </p:txBody>
      </p:sp>
      <p:sp>
        <p:nvSpPr>
          <p:cNvPr id="48" name="Text 46"/>
          <p:cNvSpPr/>
          <p:nvPr/>
        </p:nvSpPr>
        <p:spPr>
          <a:xfrm>
            <a:off x="6345936" y="2651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/ month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45936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For growing fleets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45936" y="3218688"/>
            <a:ext cx="23317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1" name="Shape 49"/>
          <p:cNvSpPr/>
          <p:nvPr/>
        </p:nvSpPr>
        <p:spPr>
          <a:xfrm>
            <a:off x="6345936" y="3392424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52" name="Text 50"/>
          <p:cNvSpPr/>
          <p:nvPr/>
        </p:nvSpPr>
        <p:spPr>
          <a:xfrm>
            <a:off x="6547104" y="3337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Everything in Hauler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45936" y="3712464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54" name="Text 52"/>
          <p:cNvSpPr/>
          <p:nvPr/>
        </p:nvSpPr>
        <p:spPr>
          <a:xfrm>
            <a:off x="6547104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Unlimited drivers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45936" y="4032504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56" name="Text 54"/>
          <p:cNvSpPr/>
          <p:nvPr/>
        </p:nvSpPr>
        <p:spPr>
          <a:xfrm>
            <a:off x="6547104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Full analytics suite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45936" y="4352544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58" name="Text 56"/>
          <p:cNvSpPr/>
          <p:nvPr/>
        </p:nvSpPr>
        <p:spPr>
          <a:xfrm>
            <a:off x="6547104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Priority support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45936" y="4672584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60" name="Text 58"/>
          <p:cNvSpPr/>
          <p:nvPr/>
        </p:nvSpPr>
        <p:spPr>
          <a:xfrm>
            <a:off x="6547104" y="4617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Custom reports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45936" y="4992624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62" name="Text 60"/>
          <p:cNvSpPr/>
          <p:nvPr/>
        </p:nvSpPr>
        <p:spPr>
          <a:xfrm>
            <a:off x="6547104" y="4937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Pay stubs + payroll PDF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C2B4A">
              <a:alpha val="45000"/>
            </a:srgbClr>
          </a:solidFill>
          <a:ln w="12700">
            <a:solidFill>
              <a:srgbClr val="1C2B4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E8962E">
              <a:alpha val="20000"/>
            </a:srgbClr>
          </a:solidFill>
          <a:ln w="12700">
            <a:solidFill>
              <a:srgbClr val="E8962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457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TRUCK</a:t>
            </a:r>
            <a:pPr algn="ctr" indent="0" marL="0">
              <a:buNone/>
            </a:pPr>
            <a:r>
              <a:rPr lang="en-US" sz="5200" b="1" dirty="0">
                <a:solidFill>
                  <a:srgbClr val="E896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1207008"/>
            <a:ext cx="4572000" cy="45720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258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take control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your fleet?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27249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BBCC"/>
                </a:solidFill>
              </a:rPr>
              <a:t>Join thousands of fleet owners and drivers who trust TruckPilot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BBCC"/>
                </a:solidFill>
              </a:rPr>
              <a:t>to manage their business every single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3547872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E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5478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1"/>
                </a:solidFill>
              </a:rPr>
              <a:t>Download Free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547872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0F1C31"/>
          </a:solidFill>
          <a:ln w="19050">
            <a:solidFill>
              <a:srgbClr val="E89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5478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2E"/>
                </a:solidFill>
              </a:rPr>
              <a:t>View Demo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480560"/>
            <a:ext cx="9144000" cy="5486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4480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truckpilot.ca  ·  Available on iOS &amp; Android  ·  Built for Canada &amp; North America  ·  Free to Start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TruckPilot — Your Fleet, Fully Managed</dc:title>
  <dc:subject>PptxGenJS Presentation</dc:subject>
  <dc:creator>TruckPilot</dc:creator>
  <cp:lastModifiedBy>TruckPilot</cp:lastModifiedBy>
  <cp:revision>1</cp:revision>
  <dcterms:created xsi:type="dcterms:W3CDTF">2026-03-28T17:03:42Z</dcterms:created>
  <dcterms:modified xsi:type="dcterms:W3CDTF">2026-03-28T17:03:42Z</dcterms:modified>
</cp:coreProperties>
</file>